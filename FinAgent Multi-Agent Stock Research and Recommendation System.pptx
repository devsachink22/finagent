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3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tylized representation of artificial intelligence assisting with stock market data analysis. Maybe a robot interacting with financial charts.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3771" y="690465"/>
            <a:ext cx="10590245" cy="18284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493"/>
              </a:lnSpc>
            </a:pP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FinAgent: Empowering</a:t>
            </a:r>
            <a:b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Multi-Agent Stock Research and Recommendation System with AI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960449" y="2586448"/>
            <a:ext cx="8271101" cy="8627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92"/>
              </a:lnSpc>
              <a:spcBef>
                <a:spcPts val="948"/>
              </a:spcBef>
            </a:pPr>
            <a:r>
              <a:rPr lang="en-US" sz="1600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Novel Multi-Agent System for In-Depth Stock Analysis and Recommendations.</a:t>
            </a: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E1FA094-7D99-D803-CA64-7931CCB55D5A}"/>
              </a:ext>
            </a:extLst>
          </p:cNvPr>
          <p:cNvSpPr/>
          <p:nvPr/>
        </p:nvSpPr>
        <p:spPr>
          <a:xfrm>
            <a:off x="6078893" y="3698033"/>
            <a:ext cx="5361991" cy="24695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r">
              <a:lnSpc>
                <a:spcPts val="4493"/>
              </a:lnSpc>
            </a:pPr>
            <a:r>
              <a:rPr lang="en-US" sz="3000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Presented By:</a:t>
            </a:r>
          </a:p>
          <a:p>
            <a:pPr algn="r">
              <a:lnSpc>
                <a:spcPts val="4493"/>
              </a:lnSpc>
            </a:pPr>
            <a:r>
              <a:rPr lang="en-US" sz="3000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Sachin Kumar</a:t>
            </a:r>
          </a:p>
          <a:p>
            <a:pPr algn="r">
              <a:lnSpc>
                <a:spcPts val="4493"/>
              </a:lnSpc>
            </a:pPr>
            <a:r>
              <a:rPr lang="en-US" sz="3000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Jaspreet Singh Bhambra</a:t>
            </a:r>
          </a:p>
          <a:p>
            <a:pPr algn="r">
              <a:lnSpc>
                <a:spcPts val="4493"/>
              </a:lnSpc>
            </a:pPr>
            <a:r>
              <a:rPr lang="en-US" sz="3000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Course: </a:t>
            </a:r>
            <a:r>
              <a:rPr lang="en-US" sz="3000" kern="0" spc="169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AI Agents</a:t>
            </a:r>
            <a:endParaRPr lang="en-US" sz="3000" kern="0" spc="169" dirty="0">
              <a:solidFill>
                <a:srgbClr val="FFFFFF">
                  <a:alpha val="80000"/>
                </a:srgbClr>
              </a:solidFill>
              <a:latin typeface="Roboto Slab Regular" pitchFamily="34" charset="0"/>
              <a:ea typeface="Roboto Slab Regular" pitchFamily="34" charset="-122"/>
              <a:cs typeface="Roboto Slab Regular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tylized representation of AI agents analyzing stock charts and financial data, with a clean dashboard interface visible."/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2250" y="1291709"/>
            <a:ext cx="4521445" cy="28527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493"/>
              </a:lnSpc>
            </a:pP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Develop a</a:t>
            </a:r>
            <a:b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Sophisticated</a:t>
            </a:r>
            <a:b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Multi-Agent AI</a:t>
            </a:r>
            <a:b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System for</a:t>
            </a:r>
            <a:b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4219" kern="0" spc="169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Stock Analysis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572250" y="4434319"/>
            <a:ext cx="128587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6301661" y="4742853"/>
            <a:ext cx="5688175" cy="10701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948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Integrating diverse data sources like Yahoo Finance, </a:t>
            </a:r>
            <a:r>
              <a:rPr lang="en-US" sz="1402" kern="0" spc="28" dirty="0" err="1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NewsAPI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, Alpha Vantage API, and Open AI, generating explainable reports, and providing actionable recommendations via an interactive dashboard.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01064"/>
            <a:ext cx="8829675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Disclaimer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357682"/>
            <a:ext cx="9210675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This project is for educational and research purposes only and does not constitute financial advice.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3769757"/>
            <a:ext cx="8829675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This disclaimer is integrated into the README, dashboard, and final reports.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Core: Multi-Agent Architecture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Specialized Agents for Stock Analysis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52500" y="2638068"/>
            <a:ext cx="3270171" cy="278606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COLLECTION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Gathers relevant market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company data.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FINANCIAL ANALYSIS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Analyzes financial statements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key ratios.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TECHNICAL ANALYSIS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Interprets chart patterns and trading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indicators.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08500" y="2638068"/>
            <a:ext cx="3270171" cy="1765816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NEWS SENTIMENT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Assesses market sentiment from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news and social media.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RISK ANALYSIS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Evaluates potential risks associated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with investments.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064500" y="2638068"/>
            <a:ext cx="3270171" cy="1765816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Synthesizes information to make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informed investment decisions.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REPORT AGENT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Generates comprehensive analysis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reports.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1817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magnifying glass hovering over stock market data charts"/>
          <p:cNvPicPr>
            <a:picLocks noChangeAspect="1"/>
          </p:cNvPicPr>
          <p:nvPr/>
        </p:nvPicPr>
        <p:blipFill>
          <a:blip r:embed="rId3"/>
          <a:srcRect l="693" r="693"/>
          <a:stretch/>
        </p:blipFill>
        <p:spPr>
          <a:xfrm>
            <a:off x="6096000" y="0"/>
            <a:ext cx="6096000" cy="6181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792837"/>
            <a:ext cx="51054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ACQUISITION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223963"/>
            <a:ext cx="3406877" cy="811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</a:t>
            </a:r>
            <a:b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Data Collection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2186345"/>
            <a:ext cx="510540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Leverages the `yfinance` Python library to retrieve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comprehensive stock market data.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2973705"/>
            <a:ext cx="51054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  <a:spcBef>
                <a:spcPts val="2173"/>
              </a:spcBef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DATA POINTS: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0" y="3313986"/>
            <a:ext cx="5105400" cy="993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482600" lvl="1" indent="-241300" algn="l">
              <a:lnSpc>
                <a:spcPts val="1811"/>
              </a:lnSpc>
              <a:spcBef>
                <a:spcPts val="1239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Current and historical stock prices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Company financial information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Key statistics and fundamentals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6250" y="4594027"/>
            <a:ext cx="51054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  <a:spcBef>
                <a:spcPts val="2214"/>
              </a:spcBef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ROBUSTNESS: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6250" y="4934307"/>
            <a:ext cx="510540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482600" lvl="1" indent="-241300" algn="l">
              <a:lnSpc>
                <a:spcPts val="1811"/>
              </a:lnSpc>
              <a:spcBef>
                <a:spcPts val="1239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Implements error handling for invalid ticker symbols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missing data.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2" name="Text 9"/>
          <p:cNvSpPr/>
          <p:nvPr/>
        </p:nvSpPr>
        <p:spPr>
          <a:xfrm>
            <a:off x="1190625" y="6422827"/>
            <a:ext cx="9810750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ENSURES A RELIABLE AND CLEAN DATA STREAM FOR DOWNSTREAM ANALYSIS, MODELING, AND DECISION-MAKING.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5781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implified illustration of a bar graph with upward trending bars, representing financial growth and positive performance."/>
          <p:cNvPicPr>
            <a:picLocks noChangeAspect="1"/>
          </p:cNvPicPr>
          <p:nvPr/>
        </p:nvPicPr>
        <p:blipFill>
          <a:blip r:embed="rId3"/>
          <a:srcRect t="2578" b="2578"/>
          <a:stretch/>
        </p:blipFill>
        <p:spPr>
          <a:xfrm>
            <a:off x="6096000" y="0"/>
            <a:ext cx="6096000" cy="5781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774502"/>
            <a:ext cx="5238750" cy="1348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062"/>
              </a:lnSpc>
            </a:pPr>
            <a:r>
              <a:rPr lang="en-US" sz="788" kern="0" spc="79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OVERVIEW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097875"/>
            <a:ext cx="5497100" cy="3043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96"/>
              </a:lnSpc>
              <a:spcBef>
                <a:spcPts val="1455"/>
              </a:spcBef>
            </a:pPr>
            <a:r>
              <a:rPr lang="en-US" sz="2109" kern="0" spc="84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Financial Analysis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1515308"/>
            <a:ext cx="5238750" cy="569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94"/>
              </a:lnSpc>
              <a:spcBef>
                <a:spcPts val="873"/>
              </a:spcBef>
            </a:pPr>
            <a:r>
              <a:rPr lang="en-US" sz="1052" kern="0" spc="2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This analysis leverages key fundamental data points to generate a</a:t>
            </a:r>
            <a:br>
              <a:rPr lang="en-US" sz="1052" kern="0" spc="2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052" kern="0" spc="2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comprehensive Financial Health Score, providing clear insights into an</a:t>
            </a:r>
            <a:br>
              <a:rPr lang="en-US" sz="1052" kern="0" spc="2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052" kern="0" spc="2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agent's fiscal standing.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2232184"/>
            <a:ext cx="5238750" cy="1618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275"/>
              </a:lnSpc>
              <a:spcBef>
                <a:spcPts val="1142"/>
              </a:spcBef>
            </a:pPr>
            <a:r>
              <a:rPr lang="en-US" sz="945" kern="0" spc="9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ANALYSIS PILLARS: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0" y="2563178"/>
            <a:ext cx="5535473" cy="24461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169"/>
              </a:lnSpc>
              <a:spcBef>
                <a:spcPts val="1306"/>
              </a:spcBef>
              <a:buSzPct val="100000"/>
              <a:buChar char="•"/>
            </a:pP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VALUATION:</a:t>
            </a: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ASSESSES MARKET VALUE AGAINST FINANCIAL PERFORMANCE USING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METRICS LIKE P/E RATIOS AND PRICE-TO-BOOK. AIMS TO DETERMINE IF THE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AGENT'S PERCEIVED VALUE IS JUSTIFIED BY UNDERLYING FINANCIAL METRICS.</a:t>
            </a:r>
            <a:endParaRPr lang="en-US" dirty="0"/>
          </a:p>
          <a:p>
            <a:pPr marL="241300" indent="-241300" algn="l">
              <a:lnSpc>
                <a:spcPts val="1169"/>
              </a:lnSpc>
              <a:spcBef>
                <a:spcPts val="1332"/>
              </a:spcBef>
              <a:buSzPct val="100000"/>
              <a:buChar char="•"/>
            </a:pP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PROFITABILITY:</a:t>
            </a: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EXAMINES REVENUE GENERATION EFFICIENCY THROUGH GROSS,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OPERATING, AND NET PROFIT MARGINS, ALONG WITH RETURN ON EQUITY (ROE)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 ASSETS (ROA). HIGH AND CONSISTENT PROFITABILITY INDICATES STRONG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OPERATIONAL PERFORMANCE.</a:t>
            </a:r>
            <a:endParaRPr lang="en-US" dirty="0"/>
          </a:p>
          <a:p>
            <a:pPr marL="241300" indent="-241300" algn="l">
              <a:lnSpc>
                <a:spcPts val="1169"/>
              </a:lnSpc>
              <a:spcBef>
                <a:spcPts val="1332"/>
              </a:spcBef>
              <a:buSzPct val="100000"/>
              <a:buChar char="•"/>
            </a:pP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GROWTH:</a:t>
            </a: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TRACKS THE EXPANSION OF REVENUE, EARNINGS, AND CASH FLOW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OVER TIME. SUSTAINABLE GROWTH IS A KEY INDICATOR OF MARKET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COMPETITIVENESS AND FUTURE POTENTIAL.</a:t>
            </a:r>
            <a:endParaRPr lang="en-US" dirty="0"/>
          </a:p>
          <a:p>
            <a:pPr marL="241300" indent="-241300" algn="l">
              <a:lnSpc>
                <a:spcPts val="1169"/>
              </a:lnSpc>
              <a:spcBef>
                <a:spcPts val="1332"/>
              </a:spcBef>
              <a:buSzPct val="100000"/>
              <a:buChar char="•"/>
            </a:pP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DEBT:</a:t>
            </a: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EVALUATES THE AGENT'S LEVERAGE AND ABILITY TO MEET FINANCIAL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OBLIGATIONS USING RATIOS SUCH AS DEBT-TO-EQUITY AND INTEREST COVERAGE.</a:t>
            </a:r>
            <a:b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866" kern="0" spc="87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MANAGES RISK BY ENSURING DEBT LEVELS ARE SUSTAINABLE.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0" y="5781675"/>
            <a:ext cx="12192000" cy="107632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23863" y="6022777"/>
            <a:ext cx="11344275" cy="5932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FINANCIAL HEALTH SCORE (1-10): A SYNTHESIZED SCORE REFLECTING THE OVERALL FINANCIAL WELL-BEING OF THE AGENT, DERIVED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FROM THE WEIGHTED ANALYSIS OF THE ABOVE PILLARS. CLEAR EXPLANATIONS: DETAILED COMMENTARY OUTLINING THE SPECIFIC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FACTORS, BOTH POSITIVE AND NEGATIVE, THAT INFLUENCED THE FINAL SCORE, ENABLING TARGETED IMPROVEMENT STRATEGIES.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tock price chart with technical indicator overlays"/>
          <p:cNvPicPr>
            <a:picLocks noChangeAspect="1"/>
          </p:cNvPicPr>
          <p:nvPr/>
        </p:nvPicPr>
        <p:blipFill>
          <a:blip r:embed="rId3"/>
          <a:srcRect l="19042" r="19042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2483525"/>
            <a:ext cx="680085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PROCESS OVERVIEW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2914650"/>
            <a:ext cx="7181850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Technical Analysis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3471267"/>
            <a:ext cx="718185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Analyzes historical price data to calculate indicators (Moving Averages, RSI,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etc.).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99749" y="4136231"/>
            <a:ext cx="6882907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Generates a technical signal (Bullish, Neutral, Bearish) with reasoning.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82027"/>
            <a:ext cx="10677525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News Sentiment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438644"/>
            <a:ext cx="11058525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Performs sentiment analysis on news headlines to categorize sentiment as Positive, Neutral, or Negative. This agent can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process sample data or integrate with an optional API for real-time analysis.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Risk Analysis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Identifying and evaluating potential risks</a:t>
            </a:r>
            <a:endParaRPr lang="en-US" dirty="0"/>
          </a:p>
        </p:txBody>
      </p:sp>
      <p:pic>
        <p:nvPicPr>
          <p:cNvPr id="5" name="Image 1" descr="-1170be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91050"/>
            <a:ext cx="2409825" cy="1200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125" y="3228142"/>
            <a:ext cx="182880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VOLATILITY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62000" y="4010739"/>
            <a:ext cx="182880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Fluctuations in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market price or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performance.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1438278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B99"/>
            </a:solidFill>
            <a:prstDash val="solid"/>
            <a:miter lim="800000"/>
          </a:ln>
        </p:spPr>
      </p:sp>
      <p:pic>
        <p:nvPicPr>
          <p:cNvPr id="9" name="Image 2" descr="749718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936" y="2590592"/>
            <a:ext cx="209550" cy="209550"/>
          </a:xfrm>
          <a:prstGeom prst="rect">
            <a:avLst/>
          </a:prstGeom>
        </p:spPr>
      </p:pic>
      <p:pic>
        <p:nvPicPr>
          <p:cNvPr id="10" name="Image 3" descr="-3c6779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6041" y="2691050"/>
            <a:ext cx="2409825" cy="12001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114675" y="3228142"/>
            <a:ext cx="154305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VALUATION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2971800" y="4010739"/>
            <a:ext cx="182880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Assessment of the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asset's or company's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current worth.</a:t>
            </a: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3648069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0727C"/>
            </a:solidFill>
            <a:prstDash val="solid"/>
            <a:miter lim="800000"/>
          </a:ln>
        </p:spPr>
      </p:sp>
      <p:pic>
        <p:nvPicPr>
          <p:cNvPr id="14" name="Image 4" descr="734bdc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6664" y="2598964"/>
            <a:ext cx="285750" cy="190500"/>
          </a:xfrm>
          <a:prstGeom prst="rect">
            <a:avLst/>
          </a:prstGeom>
        </p:spPr>
      </p:pic>
      <p:pic>
        <p:nvPicPr>
          <p:cNvPr id="15" name="Image 5" descr="7bae79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5847" y="2691050"/>
            <a:ext cx="2409825" cy="12001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24475" y="3228142"/>
            <a:ext cx="154305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DEBT</a:t>
            </a: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5181600" y="4010739"/>
            <a:ext cx="1858811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level of financial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obligation.</a:t>
            </a:r>
            <a:endParaRPr lang="en-US" dirty="0"/>
          </a:p>
        </p:txBody>
      </p:sp>
      <p:sp>
        <p:nvSpPr>
          <p:cNvPr id="18" name="Shape 10"/>
          <p:cNvSpPr/>
          <p:nvPr/>
        </p:nvSpPr>
        <p:spPr>
          <a:xfrm>
            <a:off x="5857875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55E66"/>
            </a:solidFill>
            <a:prstDash val="solid"/>
            <a:miter lim="800000"/>
          </a:ln>
        </p:spPr>
      </p:sp>
      <p:pic>
        <p:nvPicPr>
          <p:cNvPr id="19" name="Image 6" descr="618b12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4597" y="2590592"/>
            <a:ext cx="133350" cy="200025"/>
          </a:xfrm>
          <a:prstGeom prst="rect">
            <a:avLst/>
          </a:prstGeom>
        </p:spPr>
      </p:pic>
      <p:pic>
        <p:nvPicPr>
          <p:cNvPr id="20" name="Image 7" descr="-3b863a9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3" y="2691050"/>
            <a:ext cx="2409825" cy="120015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34275" y="3118604"/>
            <a:ext cx="1543050" cy="43172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</a:t>
            </a:r>
            <a:b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SENTIMENT</a:t>
            </a:r>
            <a:endParaRPr lang="en-US" dirty="0"/>
          </a:p>
        </p:txBody>
      </p:sp>
      <p:sp>
        <p:nvSpPr>
          <p:cNvPr id="22" name="Text 12"/>
          <p:cNvSpPr/>
          <p:nvPr/>
        </p:nvSpPr>
        <p:spPr>
          <a:xfrm>
            <a:off x="7391400" y="4010739"/>
            <a:ext cx="182880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Public perception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market mood.</a:t>
            </a:r>
            <a:endParaRPr lang="en-US" dirty="0"/>
          </a:p>
        </p:txBody>
      </p:sp>
      <p:sp>
        <p:nvSpPr>
          <p:cNvPr id="23" name="Shape 13"/>
          <p:cNvSpPr/>
          <p:nvPr/>
        </p:nvSpPr>
        <p:spPr>
          <a:xfrm>
            <a:off x="8067666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9494F"/>
            </a:solidFill>
            <a:prstDash val="solid"/>
            <a:miter lim="800000"/>
          </a:ln>
        </p:spPr>
      </p:sp>
      <p:pic>
        <p:nvPicPr>
          <p:cNvPr id="24" name="Image 8" descr="73939ca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8600" y="2571059"/>
            <a:ext cx="238125" cy="247650"/>
          </a:xfrm>
          <a:prstGeom prst="rect">
            <a:avLst/>
          </a:prstGeom>
        </p:spPr>
      </p:pic>
      <p:pic>
        <p:nvPicPr>
          <p:cNvPr id="25" name="Image 9" descr="-1b5439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5444" y="2691050"/>
            <a:ext cx="2409825" cy="120015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744075" y="3228142"/>
            <a:ext cx="154305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PRICE DROPS</a:t>
            </a:r>
            <a:endParaRPr lang="en-US" dirty="0"/>
          </a:p>
        </p:txBody>
      </p:sp>
      <p:sp>
        <p:nvSpPr>
          <p:cNvPr id="27" name="Text 15"/>
          <p:cNvSpPr/>
          <p:nvPr/>
        </p:nvSpPr>
        <p:spPr>
          <a:xfrm>
            <a:off x="9601200" y="4010739"/>
            <a:ext cx="189858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Significant decreases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 value.</a:t>
            </a:r>
            <a:endParaRPr lang="en-US" dirty="0"/>
          </a:p>
        </p:txBody>
      </p:sp>
      <p:sp>
        <p:nvSpPr>
          <p:cNvPr id="28" name="Shape 16"/>
          <p:cNvSpPr/>
          <p:nvPr/>
        </p:nvSpPr>
        <p:spPr>
          <a:xfrm>
            <a:off x="10277472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3439"/>
            </a:solidFill>
            <a:prstDash val="solid"/>
            <a:miter lim="800000"/>
          </a:ln>
        </p:spPr>
      </p:sp>
      <p:pic>
        <p:nvPicPr>
          <p:cNvPr id="29" name="Image 10" descr="-4865e09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17923" y="2579429"/>
            <a:ext cx="200025" cy="2286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31" name="Text 18"/>
          <p:cNvSpPr/>
          <p:nvPr/>
        </p:nvSpPr>
        <p:spPr>
          <a:xfrm>
            <a:off x="195263" y="6422827"/>
            <a:ext cx="11801475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OUTPUT PROVIDES A CLEAR RISK LEVEL (LOW, MEDIUM, OR HIGH) ACCOMPANIED BY DETAILED JUSTIFICATIONS FOR THE ASSESSMENT.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173962"/>
            <a:ext cx="10563225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MAKING AGENT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05088"/>
            <a:ext cx="10563225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Decision Making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3161705"/>
            <a:ext cx="10944225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This agent synthesizes insights from all other agents to generate a final Buy, Hold, or Sell recommendation. It provides: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3634978"/>
            <a:ext cx="10563225" cy="1053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701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FINAL RECOMMENDATION: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CLEAR BUY, HOLD, OR SELL DECISION.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CONFIDENCE SCORE: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QUANTIFIES THE CERTAINTY OF THE RECOMMENDATION.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EXPLANATION: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JUSTIFICATION AND REASONING BEHIND THE DECISION.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5991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clean report made of Markdown text on a screen"/>
          <p:cNvPicPr>
            <a:picLocks noChangeAspect="1"/>
          </p:cNvPicPr>
          <p:nvPr/>
        </p:nvPicPr>
        <p:blipFill>
          <a:blip r:embed="rId3"/>
          <a:srcRect l="15548" r="15548"/>
          <a:stretch/>
        </p:blipFill>
        <p:spPr>
          <a:xfrm>
            <a:off x="95250" y="95250"/>
            <a:ext cx="4128249" cy="5991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1607225"/>
            <a:ext cx="6638925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REPORT GENERATION PROCESS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2038350"/>
            <a:ext cx="7019925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Agent Deep Dive: Report Generation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2594967"/>
            <a:ext cx="7019925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Purpose: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To synthesize all analyzed data into a comprehensive and easily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understandable Markdown report.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99749" y="3259931"/>
            <a:ext cx="7019925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Content: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Includes a detailed compilation of key findings derived from the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analysis.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9749" y="3924895"/>
            <a:ext cx="7019925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Output: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Delivers a final recommendation based on the compiled findings.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99749" y="4336971"/>
            <a:ext cx="6638925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Format: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Clean, explainable Markdown for clarity and accessibility.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2824163" y="6422827"/>
            <a:ext cx="6543675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FINAL RECOMMENDATION DELIVERED IN ACCESSIBLE MARKDOWN FORMAT.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Technical Requirements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52500" y="2409468"/>
            <a:ext cx="3291554" cy="25561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LANGUAGE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Python will serve as the primary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programming language.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LIBRARIES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suite of essential libraries for data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handling, analysis, and visualization.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YFINANCE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fetching financial market data.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08500" y="2409468"/>
            <a:ext cx="3270171" cy="2786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PANDAS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efficient data manipulation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analysis.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NUMPY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numerical computations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array operations.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MATPLOTLIB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creating static, animated,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interactive visualizations.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64500" y="2409468"/>
            <a:ext cx="3270171" cy="30159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TEXTBLOB / VADERSENTIMENT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performing sentiment analysis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on text data.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STREAMLIT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building and deploying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interactive web applications.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ARCHITECTURE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modular design will be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implemented to ensure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maintainability and scalability.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command line interface showing a python script running with a stock ticker as an argument and outputting a report."/>
          <p:cNvPicPr>
            <a:picLocks noChangeAspect="1"/>
          </p:cNvPicPr>
          <p:nvPr/>
        </p:nvPicPr>
        <p:blipFill>
          <a:blip r:embed="rId3"/>
          <a:srcRect l="19042" r="19042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1759625"/>
            <a:ext cx="63246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RUN ANALYSIS DIRECTLY FROM THE TERMINAL BY PROVIDING A STOCK TICKER.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2190750"/>
            <a:ext cx="5943600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Interface: Command Line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2747367"/>
            <a:ext cx="594360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Command Example: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99749" y="3159442"/>
            <a:ext cx="594360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python main.py --ticker AAPL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99749" y="3571518"/>
            <a:ext cx="594360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Features: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99749" y="4044791"/>
            <a:ext cx="5943600" cy="1053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701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DIRECT EXECUTION VIA TERMINAL.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SPECIFY STOCK TICKER AS AN ARGUMENT.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GENERATES AND SAVES A MARKDOWN REPORT.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4" name="Text 1"/>
          <p:cNvSpPr/>
          <p:nvPr/>
        </p:nvSpPr>
        <p:spPr>
          <a:xfrm>
            <a:off x="476250" y="1488162"/>
            <a:ext cx="501015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FEATURES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919288"/>
            <a:ext cx="4546232" cy="811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Web App: An</a:t>
            </a:r>
            <a:b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Interactive Dashboard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2881670"/>
            <a:ext cx="501015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Overview: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A user-friendly dashboard designed for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seamless interaction.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3546634"/>
            <a:ext cx="5128131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Technology: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Built using Streamlit, a powerful Python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library for rapid web app development.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0" y="4211598"/>
            <a:ext cx="501015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User Experience: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Features interactive elements to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enhance usability and engagement.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6250" y="4876562"/>
            <a:ext cx="539115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229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Execution:</a:t>
            </a: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 Run locally with the command: streamlit run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app.py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A2872F-89E7-D7E1-2506-148E7821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378750"/>
            <a:ext cx="86106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COMPONENTS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809875"/>
            <a:ext cx="8610600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 - Landing Page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3427571"/>
            <a:ext cx="8991600" cy="1053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63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PROJECT TITLE &amp; SUBTITLE: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CLEARLY IDENTIFIES THE PROJECT.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EDUCATIONAL DISCLAIMER: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PROVIDES IMPORTANT CONTEXT REGARDING THE DASHBOARD'S PURPOSE.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SIDEBAR: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OFFERS INSTRUCTIONS AND PRACTICAL USAGE EXAMPLES FOR USERS.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4" name="Text 1"/>
          <p:cNvSpPr/>
          <p:nvPr/>
        </p:nvSpPr>
        <p:spPr>
          <a:xfrm>
            <a:off x="476250" y="973812"/>
            <a:ext cx="5000625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CONFIGURATION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404938"/>
            <a:ext cx="4135077" cy="811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</a:t>
            </a:r>
            <a:b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- Input Section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2367320"/>
            <a:ext cx="513017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This section allows users to configure stock analysis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parameters: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3093482"/>
            <a:ext cx="5237203" cy="27915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701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TICKER INPUT: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ENTER THE STOCK SYMBOL (E.G., AAPL,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GOOGL).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ANALYSIS DEPTH: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SELECT THE LEVEL OF DETAIL FOR THE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ANALYSIS: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205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Quick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Standard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Detailed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42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ANALYZE STOCK BUTTON: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INITIATES THE DATA RETRIEVAL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 ANALYSIS PROCESS.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84DC42-AADE-B5C5-885F-FC20A759F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 - Visualizations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Key data presented through interactive charts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pic>
        <p:nvPicPr>
          <p:cNvPr id="6" name="Image 1" descr="-4a5f87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981200"/>
            <a:ext cx="3841750" cy="19859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1845350"/>
            <a:ext cx="3365421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STOCK PRICE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270375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pic>
        <p:nvPicPr>
          <p:cNvPr id="9" name="Image 2" descr="-12d29c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125" y="1981200"/>
            <a:ext cx="3841750" cy="19859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60875" y="1845350"/>
            <a:ext cx="3365421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MOVING AVERAGES</a:t>
            </a:r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8064500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2" name="Text 7"/>
          <p:cNvSpPr/>
          <p:nvPr/>
        </p:nvSpPr>
        <p:spPr>
          <a:xfrm>
            <a:off x="8350250" y="2146221"/>
            <a:ext cx="1438275" cy="11094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8736"/>
              </a:lnSpc>
            </a:pPr>
            <a:r>
              <a:rPr lang="en-US" sz="9844" kern="0" spc="-492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65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8255000" y="3640812"/>
            <a:ext cx="9906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MOMENTUM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8255000" y="1845350"/>
            <a:ext cx="3365421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RELATIVE STRENGTH INDEX (RSI)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476250" y="4110038"/>
            <a:ext cx="5548313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pic>
        <p:nvPicPr>
          <p:cNvPr id="16" name="Image 3" descr="-47291d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5551" y="4586240"/>
            <a:ext cx="1514475" cy="1514475"/>
          </a:xfrm>
          <a:prstGeom prst="rect">
            <a:avLst/>
          </a:prstGeom>
        </p:spPr>
      </p:pic>
      <p:pic>
        <p:nvPicPr>
          <p:cNvPr id="17" name="Image 4" descr="-47adc8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5597" y="4586240"/>
            <a:ext cx="1514475" cy="1514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34983" y="5041225"/>
            <a:ext cx="1030847" cy="5680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473"/>
              </a:lnSpc>
            </a:pPr>
            <a:r>
              <a:rPr lang="en-US" sz="3938" kern="0" spc="15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75%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666750" y="4259937"/>
            <a:ext cx="5262563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CONFIDENCE PROGRESS BAR</a:t>
            </a:r>
            <a:endParaRPr lang="en-US" dirty="0"/>
          </a:p>
        </p:txBody>
      </p:sp>
      <p:sp>
        <p:nvSpPr>
          <p:cNvPr id="20" name="Shape 13"/>
          <p:cNvSpPr/>
          <p:nvPr/>
        </p:nvSpPr>
        <p:spPr>
          <a:xfrm>
            <a:off x="6167438" y="4110038"/>
            <a:ext cx="5548313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21" name="Text 14"/>
          <p:cNvSpPr/>
          <p:nvPr/>
        </p:nvSpPr>
        <p:spPr>
          <a:xfrm>
            <a:off x="6819125" y="4875133"/>
            <a:ext cx="4244938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3195"/>
              </a:lnSpc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Risk Level Indicators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6960394" y="5378529"/>
            <a:ext cx="3962400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  <a:spcBef>
                <a:spcPts val="754"/>
              </a:spcBef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CLEAR SIGNALS FOR ASSOCIATED RISKS.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 - Organized Output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466850"/>
            <a:ext cx="5548313" cy="23860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5" name="Text 2"/>
          <p:cNvSpPr/>
          <p:nvPr/>
        </p:nvSpPr>
        <p:spPr>
          <a:xfrm>
            <a:off x="762000" y="2256353"/>
            <a:ext cx="4843940" cy="10302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8112"/>
              </a:lnSpc>
            </a:pPr>
            <a:r>
              <a:rPr lang="en-US" sz="9141" kern="0" spc="-457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$1,234.56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6750" y="1616750"/>
            <a:ext cx="5262563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PRICE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6250" y="3995738"/>
            <a:ext cx="5548313" cy="23860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762000" y="4533900"/>
            <a:ext cx="5005986" cy="15056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1856"/>
              </a:lnSpc>
            </a:pPr>
            <a:r>
              <a:rPr lang="en-US" sz="13359" kern="0" spc="-668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$500B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6750" y="4145637"/>
            <a:ext cx="5262563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MARKET CAP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167438" y="1466850"/>
            <a:ext cx="5548313" cy="23860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6453188" y="2256353"/>
            <a:ext cx="3111102" cy="10302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8112"/>
              </a:lnSpc>
            </a:pPr>
            <a:r>
              <a:rPr lang="en-US" sz="9141" kern="0" spc="-457" dirty="0">
                <a:solidFill>
                  <a:srgbClr val="FFFFFF">
                    <a:alpha val="80000"/>
                  </a:srgbClr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8.5/10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57938" y="1616750"/>
            <a:ext cx="5262563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167438" y="3995738"/>
            <a:ext cx="5548313" cy="23860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4" name="Text 11"/>
          <p:cNvSpPr/>
          <p:nvPr/>
        </p:nvSpPr>
        <p:spPr>
          <a:xfrm>
            <a:off x="6217444" y="4891683"/>
            <a:ext cx="5448300" cy="5932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DETAILED INFORMATION AND ANALYSES ARE NEATLY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ORGANIZED INTO DISTINCT TABS FOR EASY NAVIGATION AND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DEEPER UNDERSTANDING.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 - Agent Tabs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Dedicated tabs for each agent's output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1566067" y="2734270"/>
            <a:ext cx="1471615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 **FINANCIAL**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270375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5335372" y="2734270"/>
            <a:ext cx="1521256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 **TECHNICAL**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064500" y="1695450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9120206" y="2734270"/>
            <a:ext cx="1539838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 **SENTIMENT**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76250" y="4110038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2" name="Text 9"/>
          <p:cNvSpPr/>
          <p:nvPr/>
        </p:nvSpPr>
        <p:spPr>
          <a:xfrm>
            <a:off x="1835150" y="5148858"/>
            <a:ext cx="933450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 **RISK**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270375" y="4110038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4" name="Text 11"/>
          <p:cNvSpPr/>
          <p:nvPr/>
        </p:nvSpPr>
        <p:spPr>
          <a:xfrm>
            <a:off x="5420260" y="5148858"/>
            <a:ext cx="1351479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 **DECISION**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8064500" y="4110038"/>
            <a:ext cx="3651250" cy="2271713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6" name="Text 13"/>
          <p:cNvSpPr/>
          <p:nvPr/>
        </p:nvSpPr>
        <p:spPr>
          <a:xfrm>
            <a:off x="8207652" y="4948833"/>
            <a:ext cx="3364947" cy="5932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INCLUDES AN **OVERVIEW** AND THE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**FULL REPORT** FOR EASY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NAVIGATION AND UNDERSTANDING.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459587"/>
            <a:ext cx="11268075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ENHANCEMENTS FOR USABILITY: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890713"/>
            <a:ext cx="11268075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Dashboard: Elevating User Experience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508409"/>
            <a:ext cx="11649075" cy="28977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63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LOADING SPINNERS: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PROVIDE VISUAL FEEDBACK DURING DATA PROCESSING, MANAGING USER EXPECTATIONS AND REDUCING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PERCEIVED WAIT TIMES.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INFORMATIVE MESSAGES: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UTILIZE SUCCESS, WARNING, AND ERROR MESSAGES TO CLEARLY COMMUNICATE STATUS, GUIDE ACTIONS,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 TROUBLESHOOT ISSUES.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INTUITIVE ICONS: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INTEGRATE ICONS TO VISUALLY REPRESENT ACTIONS OR DATA CATEGORIES, IMPROVING SCANNABILITY AND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AESTHETIC APPEAL.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CLEAR LAYOUT DESIGN: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STRUCTURE THE DASHBOARD WITH A LOGICAL FLOW AND DISTINCT SECTIONS FOR EASY NAVIGATION AND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COMPREHENSION.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7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FINANCIAL TERM EXPLANATIONS:</a:t>
            </a: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OFFER DEFINITIONS OR TOOLTIPS FOR COMPLEX FINANCIAL JARGON, MAKING THE DATA ACCESSIBLE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 A WIDER AUDIENCE.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Streamlit Dashboard: Sidebar Functionality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466850"/>
            <a:ext cx="4476750" cy="42386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6" name="Text 2"/>
          <p:cNvSpPr/>
          <p:nvPr/>
        </p:nvSpPr>
        <p:spPr>
          <a:xfrm>
            <a:off x="5429250" y="1728430"/>
            <a:ext cx="3000375" cy="37096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APP GUIDANCE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Provides instructions and tips for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navigating and utilizing the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application effectively.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TICKERS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Offers a list of sample stock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tickers for users to explore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analyze.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RECOMMENDATION</a:t>
            </a:r>
            <a:b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EXPLANATION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Details the criteria and logic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behind the 'Buy', 'Hold', and 'Sell'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recommendations.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715375" y="1728430"/>
            <a:ext cx="3000375" cy="22256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EDUCATIONAL DISCLAIMER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Outlines the purpose of the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dashboard as an educational tool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clarifies its limitations.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TECHNOLOGIES EMPLOYED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Lists the key technologies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libraries used in the development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of the dashboard.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9" name="Text 5"/>
          <p:cNvSpPr/>
          <p:nvPr/>
        </p:nvSpPr>
        <p:spPr>
          <a:xfrm>
            <a:off x="2286000" y="6422827"/>
            <a:ext cx="7620000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SIDEBAR SERVES AS A COMPREHENSIVE GUIDE AND INFORMATION HUB FOR USERS.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F99505-AA6F-2850-BD4D-BA62F6590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1" y="1720329"/>
            <a:ext cx="4476749" cy="36708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445300"/>
            <a:ext cx="51816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OUR APPROACH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876425"/>
            <a:ext cx="5562600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Coding Standards &amp; Scoring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494121"/>
            <a:ext cx="5181600" cy="29196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>
              <a:lnSpc>
                <a:spcPts val="1558"/>
              </a:lnSpc>
              <a:spcBef>
                <a:spcPts val="1636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EMPHASIS ON CODE QUALITY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205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Readable and well-commented code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Modular design principles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Robust error handling mechanisms</a:t>
            </a:r>
            <a:endParaRPr lang="en-US" dirty="0"/>
          </a:p>
          <a:p>
            <a:pPr marL="241300" indent="-241300" algn="l">
              <a:lnSpc>
                <a:spcPts val="1558"/>
              </a:lnSpc>
              <a:spcBef>
                <a:spcPts val="1742"/>
              </a:spcBef>
              <a:buSzPct val="100000"/>
              <a:buChar char="•"/>
            </a:pPr>
            <a:r>
              <a:rPr lang="en-US" sz="1155" kern="0" spc="116" dirty="0">
                <a:solidFill>
                  <a:srgbClr val="5DA6B5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RULE-BASED SCORING SYSTEM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205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Evaluates financial health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Analyzes technical signals</a:t>
            </a:r>
            <a:endParaRPr lang="en-US" dirty="0"/>
          </a:p>
          <a:p>
            <a:pPr marL="482600" lvl="1" indent="-241300" algn="l">
              <a:lnSpc>
                <a:spcPts val="1811"/>
              </a:lnSpc>
              <a:spcBef>
                <a:spcPts val="1171"/>
              </a:spcBef>
              <a:buSzPct val="100000"/>
              <a:buChar char="•"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Assesses risk factors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Decision Logic Example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Illustrates how agent outputs contribute to a 'Buy' recommendation</a:t>
            </a:r>
            <a:endParaRPr lang="en-US" dirty="0"/>
          </a:p>
        </p:txBody>
      </p:sp>
      <p:pic>
        <p:nvPicPr>
          <p:cNvPr id="5" name="Image 1" descr="-73a86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91050"/>
            <a:ext cx="2952750" cy="1200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125" y="3228142"/>
            <a:ext cx="238125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STRONG FINANCIALS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62000" y="4010739"/>
            <a:ext cx="238125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Positive indicators of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company health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performance.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1714500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B99"/>
            </a:solidFill>
            <a:prstDash val="solid"/>
            <a:miter lim="800000"/>
          </a:ln>
        </p:spPr>
      </p:sp>
      <p:pic>
        <p:nvPicPr>
          <p:cNvPr id="9" name="Image 2" descr="18b9fe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004" y="2582217"/>
            <a:ext cx="228600" cy="219075"/>
          </a:xfrm>
          <a:prstGeom prst="rect">
            <a:avLst/>
          </a:prstGeom>
        </p:spPr>
      </p:pic>
      <p:pic>
        <p:nvPicPr>
          <p:cNvPr id="10" name="Image 3" descr="-2c6546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691050"/>
            <a:ext cx="2952750" cy="12001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51945" y="3228142"/>
            <a:ext cx="2125861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BULLISH TECHNICALS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3524250" y="4010739"/>
            <a:ext cx="238125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Chart patterns and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indicators suggesting an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upward price trend.</a:t>
            </a: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4476750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D6B75"/>
            </a:solidFill>
            <a:prstDash val="solid"/>
            <a:miter lim="800000"/>
          </a:ln>
        </p:spPr>
      </p:sp>
      <p:pic>
        <p:nvPicPr>
          <p:cNvPr id="14" name="Image 4" descr="2ac713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256" y="2579431"/>
            <a:ext cx="228600" cy="228600"/>
          </a:xfrm>
          <a:prstGeom prst="rect">
            <a:avLst/>
          </a:prstGeom>
        </p:spPr>
      </p:pic>
      <p:pic>
        <p:nvPicPr>
          <p:cNvPr id="15" name="Image 5" descr="560079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2691050"/>
            <a:ext cx="2952750" cy="12001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22469" y="3228142"/>
            <a:ext cx="2109311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POSITIVE SENTIMENT</a:t>
            </a: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6286500" y="4010739"/>
            <a:ext cx="238125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Favorable market or public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perception of the asset.</a:t>
            </a:r>
            <a:endParaRPr lang="en-US" dirty="0"/>
          </a:p>
        </p:txBody>
      </p:sp>
      <p:sp>
        <p:nvSpPr>
          <p:cNvPr id="18" name="Shape 10"/>
          <p:cNvSpPr/>
          <p:nvPr/>
        </p:nvSpPr>
        <p:spPr>
          <a:xfrm>
            <a:off x="7239000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D5057"/>
            </a:solidFill>
            <a:prstDash val="solid"/>
            <a:miter lim="800000"/>
          </a:ln>
        </p:spPr>
      </p:sp>
      <p:pic>
        <p:nvPicPr>
          <p:cNvPr id="19" name="Image 6" descr="76b08fa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5504" y="2579429"/>
            <a:ext cx="228600" cy="228600"/>
          </a:xfrm>
          <a:prstGeom prst="rect">
            <a:avLst/>
          </a:prstGeom>
        </p:spPr>
      </p:pic>
      <p:pic>
        <p:nvPicPr>
          <p:cNvPr id="20" name="Image 7" descr="3d3601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0" y="2691050"/>
            <a:ext cx="2952750" cy="120015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191625" y="3228142"/>
            <a:ext cx="2095500" cy="2158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260" kern="0" spc="12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 RISK</a:t>
            </a:r>
            <a:endParaRPr lang="en-US" dirty="0"/>
          </a:p>
        </p:txBody>
      </p:sp>
      <p:sp>
        <p:nvSpPr>
          <p:cNvPr id="22" name="Text 12"/>
          <p:cNvSpPr/>
          <p:nvPr/>
        </p:nvSpPr>
        <p:spPr>
          <a:xfrm>
            <a:off x="9048750" y="4010739"/>
            <a:ext cx="238125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Assessment indicating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minimal potential for loss.</a:t>
            </a:r>
            <a:endParaRPr lang="en-US" dirty="0"/>
          </a:p>
        </p:txBody>
      </p:sp>
      <p:sp>
        <p:nvSpPr>
          <p:cNvPr id="23" name="Shape 13"/>
          <p:cNvSpPr/>
          <p:nvPr/>
        </p:nvSpPr>
        <p:spPr>
          <a:xfrm>
            <a:off x="10001250" y="245292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3439"/>
            </a:solidFill>
            <a:prstDash val="solid"/>
            <a:miter lim="800000"/>
          </a:ln>
        </p:spPr>
      </p:sp>
      <p:pic>
        <p:nvPicPr>
          <p:cNvPr id="24" name="Image 8" descr="-4bc9d2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5659" y="2593383"/>
            <a:ext cx="171450" cy="20955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26" name="Text 15"/>
          <p:cNvSpPr/>
          <p:nvPr/>
        </p:nvSpPr>
        <p:spPr>
          <a:xfrm>
            <a:off x="4499907" y="6422827"/>
            <a:ext cx="3192185" cy="1977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OUTCOME: 'BUY' RECOMMENDATION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README.md Highlights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7746"/>
            <a:ext cx="11334750" cy="25288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2"/>
              </a:lnSpc>
              <a:spcBef>
                <a:spcPts val="1951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Comprehensive Project Overview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52500" y="2638068"/>
            <a:ext cx="3270171" cy="278606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DESCRIPTION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Introduction to the project's purpose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goals.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Detailed list of the functionalities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offered.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ARCHITECTURE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Explanation of the project's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underlying structure and design.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08500" y="2638068"/>
            <a:ext cx="3270171" cy="2786063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INSTALLATION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Step-by-step guide for setting up the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project.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USAGE INSTRUCTIONS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How to operate and utilize the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project's features.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Known constraints and boundaries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of the project.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064500" y="2638068"/>
            <a:ext cx="3297388" cy="1765816"/>
          </a:xfrm>
          <a:prstGeom prst="rect">
            <a:avLst/>
          </a:prstGeom>
          <a:noFill/>
          <a:ln>
            <a:miter lim="800000"/>
          </a:ln>
        </p:spPr>
        <p:txBody>
          <a:bodyPr wrap="none" lIns="0" tIns="0" rIns="0" bIns="0" rtlCol="0" anchor="t"/>
          <a:lstStyle/>
          <a:p>
            <a:pPr marL="241300" indent="-241300" algn="l">
              <a:lnSpc>
                <a:spcPts val="1841"/>
              </a:lnSpc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DISCLAIMER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Important legal and informational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notices.</a:t>
            </a:r>
            <a:endParaRPr lang="en-US" dirty="0"/>
          </a:p>
          <a:p>
            <a:pPr marL="241300" indent="-241300" algn="l">
              <a:lnSpc>
                <a:spcPts val="1841"/>
              </a:lnSpc>
              <a:spcBef>
                <a:spcPts val="2120"/>
              </a:spcBef>
              <a:buSzPct val="100000"/>
              <a:buChar char="•"/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FUTURE IMPROVEMENTS</a:t>
            </a:r>
            <a:endParaRPr lang="en-US" dirty="0"/>
          </a:p>
          <a:p>
            <a:pPr marL="889000" lvl="1" indent="-317500" algn="l">
              <a:lnSpc>
                <a:spcPts val="1811"/>
              </a:lnSpc>
              <a:spcBef>
                <a:spcPts val="401"/>
              </a:spcBef>
              <a:buNone/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Planned enhancements and roadmap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the project.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3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Extra Features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3238500"/>
            <a:ext cx="3619500" cy="1728788"/>
          </a:xfrm>
          <a:prstGeom prst="rect">
            <a:avLst/>
          </a:prstGeom>
          <a:solidFill>
            <a:srgbClr val="5DA6B5"/>
          </a:solidFill>
          <a:ln>
            <a:miter lim="800000"/>
          </a:ln>
        </p:spPr>
      </p:sp>
      <p:sp>
        <p:nvSpPr>
          <p:cNvPr id="5" name="Text 2"/>
          <p:cNvSpPr/>
          <p:nvPr/>
        </p:nvSpPr>
        <p:spPr>
          <a:xfrm>
            <a:off x="762000" y="3733443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SAMPLE REPORTS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038243"/>
            <a:ext cx="3207306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Access to comprehensive sample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reports demonstrating data analysis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insights.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928813" y="28813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B99"/>
            </a:solidFill>
            <a:prstDash val="solid"/>
            <a:miter lim="800000"/>
          </a:ln>
        </p:spPr>
      </p:sp>
      <p:pic>
        <p:nvPicPr>
          <p:cNvPr id="8" name="Image 1" descr="-639f69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940" y="3104618"/>
            <a:ext cx="295275" cy="2952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86250" y="3238500"/>
            <a:ext cx="3619500" cy="1728788"/>
          </a:xfrm>
          <a:prstGeom prst="rect">
            <a:avLst/>
          </a:prstGeom>
          <a:solidFill>
            <a:srgbClr val="7CB9B7"/>
          </a:solidFill>
          <a:ln>
            <a:miter lim="800000"/>
          </a:ln>
        </p:spPr>
      </p:sp>
      <p:sp>
        <p:nvSpPr>
          <p:cNvPr id="10" name="Text 6"/>
          <p:cNvSpPr/>
          <p:nvPr/>
        </p:nvSpPr>
        <p:spPr>
          <a:xfrm>
            <a:off x="4572000" y="3733443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ARCHITECTURE DIAGRAM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0" y="4038243"/>
            <a:ext cx="3147536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detailed, text-based diagram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outlining the system's architecture.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738813" y="28813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A7A5"/>
            </a:solidFill>
            <a:prstDash val="solid"/>
            <a:miter lim="800000"/>
          </a:ln>
        </p:spPr>
      </p:sp>
      <p:pic>
        <p:nvPicPr>
          <p:cNvPr id="13" name="Image 2" descr="-48c45e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569" y="3091998"/>
            <a:ext cx="342900" cy="304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96250" y="3238500"/>
            <a:ext cx="3619500" cy="1728788"/>
          </a:xfrm>
          <a:prstGeom prst="rect">
            <a:avLst/>
          </a:prstGeom>
          <a:solidFill>
            <a:srgbClr val="9BCBB9"/>
          </a:solidFill>
          <a:ln>
            <a:miter lim="800000"/>
          </a:ln>
        </p:spPr>
      </p:sp>
      <p:sp>
        <p:nvSpPr>
          <p:cNvPr id="15" name="Text 10"/>
          <p:cNvSpPr/>
          <p:nvPr/>
        </p:nvSpPr>
        <p:spPr>
          <a:xfrm>
            <a:off x="8382000" y="3733443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POTENTIAL ENHANCEMENTS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382000" y="4038243"/>
            <a:ext cx="314325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forward-looking overview of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planned features and future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development directions.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9548813" y="28813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9BAA1"/>
            </a:solidFill>
            <a:prstDash val="solid"/>
            <a:miter lim="800000"/>
          </a:ln>
        </p:spPr>
      </p:sp>
      <p:pic>
        <p:nvPicPr>
          <p:cNvPr id="18" name="Image 3" descr="-377da1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008" y="3066883"/>
            <a:ext cx="36195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476a7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10542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812"/>
            <a:ext cx="11334750" cy="365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5"/>
              </a:lnSpc>
            </a:pPr>
            <a:r>
              <a:rPr lang="en-US" sz="2531" kern="0" spc="101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Future Improvements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76250" y="1824038"/>
            <a:ext cx="3619500" cy="2052638"/>
          </a:xfrm>
          <a:prstGeom prst="rect">
            <a:avLst/>
          </a:prstGeom>
          <a:solidFill>
            <a:srgbClr val="5DA6B5"/>
          </a:solidFill>
          <a:ln>
            <a:miter lim="800000"/>
          </a:ln>
        </p:spPr>
      </p:sp>
      <p:sp>
        <p:nvSpPr>
          <p:cNvPr id="5" name="Text 2"/>
          <p:cNvSpPr/>
          <p:nvPr/>
        </p:nvSpPr>
        <p:spPr>
          <a:xfrm>
            <a:off x="762000" y="2318980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REAL-TIME NEWS APIS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2623780"/>
            <a:ext cx="3324344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Integrate live feeds for up-to-the-</a:t>
            </a:r>
            <a:b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minute news relevant to investments.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928813" y="1466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B99"/>
            </a:solidFill>
            <a:prstDash val="solid"/>
            <a:miter lim="800000"/>
          </a:ln>
        </p:spPr>
      </p:sp>
      <p:pic>
        <p:nvPicPr>
          <p:cNvPr id="8" name="Image 1" descr="-3f5710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912" y="1664977"/>
            <a:ext cx="190500" cy="3238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86250" y="1824038"/>
            <a:ext cx="3619500" cy="2052638"/>
          </a:xfrm>
          <a:prstGeom prst="rect">
            <a:avLst/>
          </a:prstGeom>
          <a:solidFill>
            <a:srgbClr val="6DAFB6"/>
          </a:solidFill>
          <a:ln>
            <a:miter lim="800000"/>
          </a:ln>
        </p:spPr>
      </p:sp>
      <p:sp>
        <p:nvSpPr>
          <p:cNvPr id="10" name="Text 6"/>
          <p:cNvSpPr/>
          <p:nvPr/>
        </p:nvSpPr>
        <p:spPr>
          <a:xfrm>
            <a:off x="4572000" y="2318980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LLM-BASED REASONING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0" y="2623780"/>
            <a:ext cx="314325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Employ Large Language Models to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analyze and interpret complex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financial data.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738813" y="1466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098A0"/>
            </a:solidFill>
            <a:prstDash val="solid"/>
            <a:miter lim="800000"/>
          </a:ln>
        </p:spPr>
      </p:sp>
      <p:pic>
        <p:nvPicPr>
          <p:cNvPr id="13" name="Image 2" descr="1de389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240" y="1652420"/>
            <a:ext cx="257175" cy="3524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96250" y="1824038"/>
            <a:ext cx="3619500" cy="2052638"/>
          </a:xfrm>
          <a:prstGeom prst="rect">
            <a:avLst/>
          </a:prstGeom>
          <a:solidFill>
            <a:srgbClr val="7CB9B7"/>
          </a:solidFill>
          <a:ln>
            <a:miter lim="800000"/>
          </a:ln>
        </p:spPr>
      </p:sp>
      <p:sp>
        <p:nvSpPr>
          <p:cNvPr id="15" name="Text 10"/>
          <p:cNvSpPr/>
          <p:nvPr/>
        </p:nvSpPr>
        <p:spPr>
          <a:xfrm>
            <a:off x="8382000" y="2318980"/>
            <a:ext cx="3143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RAG FOR EARNINGS REPORTS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382000" y="2623780"/>
            <a:ext cx="3143250" cy="6897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Utilize Retrieval-Augmented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Generation to extract insights from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earnings call transcripts.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9548813" y="14668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A7A5"/>
            </a:solidFill>
            <a:prstDash val="solid"/>
            <a:miter lim="800000"/>
          </a:ln>
        </p:spPr>
      </p:sp>
      <p:pic>
        <p:nvPicPr>
          <p:cNvPr id="18" name="Image 3" descr="5bc2ad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0196" y="1694278"/>
            <a:ext cx="361950" cy="27622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6250" y="4329113"/>
            <a:ext cx="5524500" cy="2052638"/>
          </a:xfrm>
          <a:prstGeom prst="rect">
            <a:avLst/>
          </a:prstGeom>
          <a:solidFill>
            <a:srgbClr val="8CC2B8"/>
          </a:solidFill>
          <a:ln>
            <a:miter lim="800000"/>
          </a:ln>
        </p:spPr>
      </p:sp>
      <p:sp>
        <p:nvSpPr>
          <p:cNvPr id="20" name="Text 14"/>
          <p:cNvSpPr/>
          <p:nvPr/>
        </p:nvSpPr>
        <p:spPr>
          <a:xfrm>
            <a:off x="762000" y="4824055"/>
            <a:ext cx="5048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PORTFOLIO ANALYSIS</a:t>
            </a: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762000" y="5128855"/>
            <a:ext cx="5414487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Develop advanced tools for in-depth evaluation of investment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portfolios.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2881313" y="39719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BB0A3"/>
            </a:solidFill>
            <a:prstDash val="solid"/>
            <a:miter lim="800000"/>
          </a:ln>
        </p:spPr>
      </p:sp>
      <p:pic>
        <p:nvPicPr>
          <p:cNvPr id="23" name="Image 4" descr="6ec5e7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7811" y="4178423"/>
            <a:ext cx="304800" cy="3048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91250" y="4329113"/>
            <a:ext cx="5524500" cy="2052638"/>
          </a:xfrm>
          <a:prstGeom prst="rect">
            <a:avLst/>
          </a:prstGeom>
          <a:solidFill>
            <a:srgbClr val="9BCBB9"/>
          </a:solidFill>
          <a:ln>
            <a:miter lim="800000"/>
          </a:ln>
        </p:spPr>
      </p:sp>
      <p:sp>
        <p:nvSpPr>
          <p:cNvPr id="25" name="Text 18"/>
          <p:cNvSpPr/>
          <p:nvPr/>
        </p:nvSpPr>
        <p:spPr>
          <a:xfrm>
            <a:off x="6477000" y="4824055"/>
            <a:ext cx="5048250" cy="2338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1"/>
              </a:lnSpc>
            </a:pPr>
            <a:r>
              <a:rPr lang="en-US" sz="1365" kern="0" spc="136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BACKTESTING STRATEGIES</a:t>
            </a: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477000" y="5128855"/>
            <a:ext cx="5048250" cy="4598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1"/>
              </a:lnSpc>
              <a:spcBef>
                <a:spcPts val="548"/>
              </a:spcBef>
            </a:pP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Implement historical data analysis to test and refine</a:t>
            </a:r>
            <a:b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kern="0" spc="26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investment strategies.</a:t>
            </a: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8596313" y="39719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9BAA1"/>
            </a:solidFill>
            <a:prstDash val="solid"/>
            <a:miter lim="800000"/>
          </a:ln>
        </p:spPr>
      </p:sp>
      <p:pic>
        <p:nvPicPr>
          <p:cNvPr id="28" name="Image 5" descr="391bae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6067" y="4157499"/>
            <a:ext cx="33337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579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tylized representation of an AI agent with a magnifying glass over a stock chart."/>
          <p:cNvPicPr>
            <a:picLocks noChangeAspect="1"/>
          </p:cNvPicPr>
          <p:nvPr/>
        </p:nvPicPr>
        <p:blipFill>
          <a:blip r:embed="rId3"/>
          <a:srcRect l="14358" r="14358"/>
          <a:stretch/>
        </p:blipFill>
        <p:spPr>
          <a:xfrm>
            <a:off x="95250" y="95250"/>
            <a:ext cx="4128249" cy="5791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2250162"/>
            <a:ext cx="6819900" cy="1797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6"/>
              </a:lnSpc>
            </a:pPr>
            <a:r>
              <a:rPr lang="en-US" sz="1050" kern="0" spc="105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2681288"/>
            <a:ext cx="6819900" cy="4057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5"/>
              </a:lnSpc>
              <a:spcBef>
                <a:spcPts val="1940"/>
              </a:spcBef>
            </a:pPr>
            <a:r>
              <a:rPr lang="en-US" sz="2813" kern="0" spc="113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Conclusion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3237905"/>
            <a:ext cx="7200900" cy="5057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2"/>
              </a:lnSpc>
              <a:spcBef>
                <a:spcPts val="1165"/>
              </a:spcBef>
            </a:pP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FinAgent offers a powerful, educational, and user-friendly platform for stock</a:t>
            </a:r>
            <a:b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2" kern="0" spc="28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market analysis, showcasing the potential of multi-agent AI systems.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5981700"/>
            <a:ext cx="12192000" cy="876300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2276475" y="6222802"/>
            <a:ext cx="7639050" cy="3955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58"/>
              </a:lnSpc>
            </a:pP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FINAGENT OFFERS A POWERFUL, EDUCATIONAL, AND USER-FRIENDLY PLATFORM FOR</a:t>
            </a:r>
            <a:b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kern="0" spc="116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STOCK MARKET ANALYSIS, SHOWCASING THE POTENTIAL OF MULTI-AGENT AI SYSTEMS.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1850</Words>
  <Application>Microsoft Office PowerPoint</Application>
  <PresentationFormat>Widescreen</PresentationFormat>
  <Paragraphs>259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Roboto Slab Regular</vt:lpstr>
      <vt:lpstr>Arial</vt:lpstr>
      <vt:lpstr>Roboto Black</vt:lpstr>
      <vt:lpstr>Roboto Bold</vt:lpstr>
      <vt:lpstr>Roboto Slab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FinAgent Multi-Agent Stock Research and Recommendation System</dc:title>
  <dc:subject>FinAgent Multi-Agent Stock Research and Recommendation System</dc:subject>
  <dc:creator>Sachin Kumar</dc:creator>
  <cp:lastModifiedBy>Sachin Kumar</cp:lastModifiedBy>
  <cp:revision>4</cp:revision>
  <dcterms:created xsi:type="dcterms:W3CDTF">2026-05-03T10:59:21Z</dcterms:created>
  <dcterms:modified xsi:type="dcterms:W3CDTF">2026-05-03T11:32:58Z</dcterms:modified>
</cp:coreProperties>
</file>